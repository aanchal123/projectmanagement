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AD0900-3A36-4E8D-BBED-DCFF2C637A63}">
  <a:tblStyle styleId="{5FAD0900-3A36-4E8D-BBED-DCFF2C637A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40"/>
  </p:normalViewPr>
  <p:slideViewPr>
    <p:cSldViewPr snapToGrid="0">
      <p:cViewPr>
        <p:scale>
          <a:sx n="76" d="100"/>
          <a:sy n="76" d="100"/>
        </p:scale>
        <p:origin x="2704" y="312"/>
      </p:cViewPr>
      <p:guideLst>
        <p:guide orient="horz" pos="288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14816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323689"/>
            <a:ext cx="8520600" cy="36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5038444"/>
            <a:ext cx="8520600" cy="14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3823733"/>
            <a:ext cx="8520600" cy="14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791156"/>
            <a:ext cx="8520600" cy="10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791156"/>
            <a:ext cx="8520600" cy="10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2048844"/>
            <a:ext cx="3999900" cy="60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2048844"/>
            <a:ext cx="3999900" cy="60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791156"/>
            <a:ext cx="8520600" cy="10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987733"/>
            <a:ext cx="2808000" cy="13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2470400"/>
            <a:ext cx="2808000" cy="565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800267"/>
            <a:ext cx="6367800" cy="727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222"/>
            <a:ext cx="45720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2192311"/>
            <a:ext cx="4045200" cy="263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4983244"/>
            <a:ext cx="4045200" cy="21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1287244"/>
            <a:ext cx="3837000" cy="656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7521022"/>
            <a:ext cx="5998800" cy="10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966444"/>
            <a:ext cx="8520600" cy="34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5603956"/>
            <a:ext cx="8520600" cy="23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791156"/>
            <a:ext cx="8520600" cy="10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731202" y="583613"/>
            <a:ext cx="576000" cy="450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1914866" y="926540"/>
            <a:ext cx="576000" cy="450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098530" y="1258141"/>
            <a:ext cx="576000" cy="450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4282194" y="1589741"/>
            <a:ext cx="576000" cy="450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5465858" y="1921342"/>
            <a:ext cx="576000" cy="450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6649522" y="2252943"/>
            <a:ext cx="576000" cy="450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2805168" y="807508"/>
            <a:ext cx="15114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00"/>
                </a:solidFill>
              </a:rPr>
              <a:t>Feedforward</a:t>
            </a:r>
            <a:endParaRPr sz="1600" dirty="0">
              <a:solidFill>
                <a:srgbClr val="000000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2369175" y="2641229"/>
            <a:ext cx="12165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00"/>
                </a:solidFill>
              </a:rPr>
              <a:t>Feedback</a:t>
            </a:r>
            <a:endParaRPr sz="1600" dirty="0">
              <a:solidFill>
                <a:srgbClr val="000000"/>
              </a:solidFill>
            </a:endParaRPr>
          </a:p>
        </p:txBody>
      </p:sp>
      <p:cxnSp>
        <p:nvCxnSpPr>
          <p:cNvPr id="64" name="Google Shape;64;p13"/>
          <p:cNvCxnSpPr>
            <a:cxnSpLocks/>
          </p:cNvCxnSpPr>
          <p:nvPr/>
        </p:nvCxnSpPr>
        <p:spPr>
          <a:xfrm>
            <a:off x="1299851" y="760640"/>
            <a:ext cx="607500" cy="3318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" name="Google Shape;66;p13"/>
          <p:cNvSpPr txBox="1"/>
          <p:nvPr/>
        </p:nvSpPr>
        <p:spPr>
          <a:xfrm>
            <a:off x="852913" y="583888"/>
            <a:ext cx="33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</a:rPr>
              <a:t>1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2036475" y="926813"/>
            <a:ext cx="33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</a:rPr>
              <a:t>2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3220150" y="1258413"/>
            <a:ext cx="33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3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4403813" y="1590013"/>
            <a:ext cx="33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</a:rPr>
              <a:t>4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5587475" y="1921613"/>
            <a:ext cx="33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5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6771138" y="2253213"/>
            <a:ext cx="33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</a:rPr>
              <a:t>6</a:t>
            </a:r>
            <a:endParaRPr sz="1800" b="1">
              <a:solidFill>
                <a:srgbClr val="000000"/>
              </a:solidFill>
            </a:endParaRPr>
          </a:p>
        </p:txBody>
      </p:sp>
      <p:cxnSp>
        <p:nvCxnSpPr>
          <p:cNvPr id="2" name="Google Shape;64;p13">
            <a:extLst>
              <a:ext uri="{FF2B5EF4-FFF2-40B4-BE49-F238E27FC236}">
                <a16:creationId xmlns:a16="http://schemas.microsoft.com/office/drawing/2014/main" id="{6306DCF2-1FB4-EDEB-341A-D9D040C6D76E}"/>
              </a:ext>
            </a:extLst>
          </p:cNvPr>
          <p:cNvCxnSpPr>
            <a:cxnSpLocks/>
          </p:cNvCxnSpPr>
          <p:nvPr/>
        </p:nvCxnSpPr>
        <p:spPr>
          <a:xfrm>
            <a:off x="2483679" y="1092241"/>
            <a:ext cx="607500" cy="3318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" name="Google Shape;64;p13">
            <a:extLst>
              <a:ext uri="{FF2B5EF4-FFF2-40B4-BE49-F238E27FC236}">
                <a16:creationId xmlns:a16="http://schemas.microsoft.com/office/drawing/2014/main" id="{DDFB8505-CA12-5B4A-ADC7-C0D160FD0130}"/>
              </a:ext>
            </a:extLst>
          </p:cNvPr>
          <p:cNvCxnSpPr>
            <a:cxnSpLocks/>
          </p:cNvCxnSpPr>
          <p:nvPr/>
        </p:nvCxnSpPr>
        <p:spPr>
          <a:xfrm>
            <a:off x="3656268" y="1483391"/>
            <a:ext cx="607500" cy="3318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64;p13">
            <a:extLst>
              <a:ext uri="{FF2B5EF4-FFF2-40B4-BE49-F238E27FC236}">
                <a16:creationId xmlns:a16="http://schemas.microsoft.com/office/drawing/2014/main" id="{1FD79D2F-B53F-E0BB-A0E4-348D7CC0766B}"/>
              </a:ext>
            </a:extLst>
          </p:cNvPr>
          <p:cNvCxnSpPr>
            <a:cxnSpLocks/>
          </p:cNvCxnSpPr>
          <p:nvPr/>
        </p:nvCxnSpPr>
        <p:spPr>
          <a:xfrm>
            <a:off x="4876558" y="1940479"/>
            <a:ext cx="607500" cy="3318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64;p13">
            <a:extLst>
              <a:ext uri="{FF2B5EF4-FFF2-40B4-BE49-F238E27FC236}">
                <a16:creationId xmlns:a16="http://schemas.microsoft.com/office/drawing/2014/main" id="{C60908B9-2438-0843-A625-92F0BF799AC1}"/>
              </a:ext>
            </a:extLst>
          </p:cNvPr>
          <p:cNvCxnSpPr>
            <a:cxnSpLocks/>
          </p:cNvCxnSpPr>
          <p:nvPr/>
        </p:nvCxnSpPr>
        <p:spPr>
          <a:xfrm>
            <a:off x="6041777" y="2260375"/>
            <a:ext cx="607500" cy="3318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Google Shape;63;p13">
            <a:extLst>
              <a:ext uri="{FF2B5EF4-FFF2-40B4-BE49-F238E27FC236}">
                <a16:creationId xmlns:a16="http://schemas.microsoft.com/office/drawing/2014/main" id="{14FFF6AA-B74C-253B-5BAA-4641AF582971}"/>
              </a:ext>
            </a:extLst>
          </p:cNvPr>
          <p:cNvCxnSpPr>
            <a:cxnSpLocks/>
            <a:stCxn id="68" idx="2"/>
            <a:endCxn id="67" idx="2"/>
          </p:cNvCxnSpPr>
          <p:nvPr/>
        </p:nvCxnSpPr>
        <p:spPr>
          <a:xfrm rot="5400000" flipH="1">
            <a:off x="2639466" y="973080"/>
            <a:ext cx="324673" cy="1169395"/>
          </a:xfrm>
          <a:prstGeom prst="bentConnector3">
            <a:avLst>
              <a:gd name="adj1" fmla="val -70409"/>
            </a:avLst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63;p13">
            <a:extLst>
              <a:ext uri="{FF2B5EF4-FFF2-40B4-BE49-F238E27FC236}">
                <a16:creationId xmlns:a16="http://schemas.microsoft.com/office/drawing/2014/main" id="{21D361B6-52FF-C9BE-354A-ABA130B22B10}"/>
              </a:ext>
            </a:extLst>
          </p:cNvPr>
          <p:cNvCxnSpPr>
            <a:cxnSpLocks/>
          </p:cNvCxnSpPr>
          <p:nvPr/>
        </p:nvCxnSpPr>
        <p:spPr>
          <a:xfrm rot="5400000" flipH="1">
            <a:off x="3905526" y="1288539"/>
            <a:ext cx="331600" cy="1183675"/>
          </a:xfrm>
          <a:prstGeom prst="bentConnector3">
            <a:avLst>
              <a:gd name="adj1" fmla="val -68938"/>
            </a:avLst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63;p13">
            <a:extLst>
              <a:ext uri="{FF2B5EF4-FFF2-40B4-BE49-F238E27FC236}">
                <a16:creationId xmlns:a16="http://schemas.microsoft.com/office/drawing/2014/main" id="{8A258280-A9F9-41A9-01B2-67529450105F}"/>
              </a:ext>
            </a:extLst>
          </p:cNvPr>
          <p:cNvCxnSpPr>
            <a:cxnSpLocks/>
          </p:cNvCxnSpPr>
          <p:nvPr/>
        </p:nvCxnSpPr>
        <p:spPr>
          <a:xfrm rot="5400000" flipH="1">
            <a:off x="6179727" y="1946206"/>
            <a:ext cx="331600" cy="1183675"/>
          </a:xfrm>
          <a:prstGeom prst="bentConnector3">
            <a:avLst>
              <a:gd name="adj1" fmla="val -68938"/>
            </a:avLst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CF564AF-840F-019E-C07A-7ADA5E2BA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764584"/>
              </p:ext>
            </p:extLst>
          </p:nvPr>
        </p:nvGraphicFramePr>
        <p:xfrm>
          <a:off x="731202" y="3484330"/>
          <a:ext cx="7823728" cy="4899030"/>
        </p:xfrm>
        <a:graphic>
          <a:graphicData uri="http://schemas.openxmlformats.org/drawingml/2006/table">
            <a:tbl>
              <a:tblPr/>
              <a:tblGrid>
                <a:gridCol w="590079">
                  <a:extLst>
                    <a:ext uri="{9D8B030D-6E8A-4147-A177-3AD203B41FA5}">
                      <a16:colId xmlns:a16="http://schemas.microsoft.com/office/drawing/2014/main" val="4181624905"/>
                    </a:ext>
                  </a:extLst>
                </a:gridCol>
                <a:gridCol w="2322047">
                  <a:extLst>
                    <a:ext uri="{9D8B030D-6E8A-4147-A177-3AD203B41FA5}">
                      <a16:colId xmlns:a16="http://schemas.microsoft.com/office/drawing/2014/main" val="900678711"/>
                    </a:ext>
                  </a:extLst>
                </a:gridCol>
                <a:gridCol w="2806400">
                  <a:extLst>
                    <a:ext uri="{9D8B030D-6E8A-4147-A177-3AD203B41FA5}">
                      <a16:colId xmlns:a16="http://schemas.microsoft.com/office/drawing/2014/main" val="475765416"/>
                    </a:ext>
                  </a:extLst>
                </a:gridCol>
                <a:gridCol w="2105202">
                  <a:extLst>
                    <a:ext uri="{9D8B030D-6E8A-4147-A177-3AD203B41FA5}">
                      <a16:colId xmlns:a16="http://schemas.microsoft.com/office/drawing/2014/main" val="2714577805"/>
                    </a:ext>
                  </a:extLst>
                </a:gridCol>
              </a:tblGrid>
              <a:tr h="297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Step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Team Requirements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927447"/>
                  </a:ext>
                </a:extLst>
              </a:tr>
              <a:tr h="713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Outreach &amp; Planning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Brainstorm clients, plan outreach strategy, schedule meetings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 members; lead coordinates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431563"/>
                  </a:ext>
                </a:extLst>
              </a:tr>
              <a:tr h="624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Client Engagement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Meet clients, explain project scope, confirm interest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Comms lead runs meetings; all attend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723793"/>
                  </a:ext>
                </a:extLst>
              </a:tr>
              <a:tr h="988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Requirements Gathering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Collect functional + nonfunctional needs; data sources Zoom, Moodle, Email+, R Shiny, GA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Analyst documents; liaison confirms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627997"/>
                  </a:ext>
                </a:extLst>
              </a:tr>
              <a:tr h="806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 Design &amp; Feasibility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Draft ERD and architecture; assess privacy and access constraints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engineer + designer lead; team reviews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1901"/>
                  </a:ext>
                </a:extLst>
              </a:tr>
              <a:tr h="713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Solution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Build ERDs, mockups, conceptual workflows with synthetic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Designer + data modeler lead; all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73190"/>
                  </a:ext>
                </a:extLst>
              </a:tr>
              <a:tr h="713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Client Feedback &amp; Refinement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Present designs, gather feedback, refine report and recommendations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Entire team with client sign-off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174920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14F1946E-333A-4AC1-E5F6-340B0AAAE7FD}"/>
              </a:ext>
            </a:extLst>
          </p:cNvPr>
          <p:cNvSpPr txBox="1"/>
          <p:nvPr/>
        </p:nvSpPr>
        <p:spPr>
          <a:xfrm>
            <a:off x="1611536" y="2000305"/>
            <a:ext cx="18757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Clarify requirements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821280-26D0-740B-5AAA-DA011164C3FB}"/>
              </a:ext>
            </a:extLst>
          </p:cNvPr>
          <p:cNvSpPr txBox="1"/>
          <p:nvPr/>
        </p:nvSpPr>
        <p:spPr>
          <a:xfrm>
            <a:off x="3272327" y="2336631"/>
            <a:ext cx="14641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Adjust design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319A3E-8401-7896-2CFE-8883580C3BC4}"/>
              </a:ext>
            </a:extLst>
          </p:cNvPr>
          <p:cNvSpPr txBox="1"/>
          <p:nvPr/>
        </p:nvSpPr>
        <p:spPr>
          <a:xfrm>
            <a:off x="5484058" y="2970431"/>
            <a:ext cx="17414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Refine deliverables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A74E41-36D4-0847-CC7E-4F15F45B7E17}"/>
              </a:ext>
            </a:extLst>
          </p:cNvPr>
          <p:cNvSpPr txBox="1"/>
          <p:nvPr/>
        </p:nvSpPr>
        <p:spPr>
          <a:xfrm>
            <a:off x="2377316" y="271340"/>
            <a:ext cx="49984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Waterfall Model of SMMC Engagement Reporting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Macintosh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Malhotra, Aanchal</cp:lastModifiedBy>
  <cp:revision>1</cp:revision>
  <dcterms:modified xsi:type="dcterms:W3CDTF">2025-10-07T05:07:22Z</dcterms:modified>
</cp:coreProperties>
</file>